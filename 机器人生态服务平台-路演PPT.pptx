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060B8">
              <a:alpha val="40000"/>
            </a:srgbClr>
          </a:solidFill>
          <a:ln w="12700">
            <a:solidFill>
              <a:srgbClr val="1060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82880"/>
            <a:ext cx="1645920" cy="1463040"/>
          </a:xfrm>
          <a:prstGeom prst="rect">
            <a:avLst/>
          </a:prstGeom>
          <a:solidFill>
            <a:srgbClr val="00D4C8">
              <a:alpha val="2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48640"/>
            <a:ext cx="2011680" cy="2743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机器人生态服务平台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一站式机器人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D4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生态服务平台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411480" y="2578608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97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8B8CC"/>
                </a:solidFill>
              </a:rPr>
              <a:t>机器人生态「嘉立创」— 让机器人研发像画PCB一样简单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8B8CC"/>
                </a:solidFill>
              </a:rPr>
              <a:t>国内首个机器人全链路云端研发与验证生态平台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A8B8CC"/>
                </a:solidFill>
              </a:rPr>
              <a:t>覆盖需求→选型→设计→仿真→部署→测试→认证全流程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4160520"/>
            <a:ext cx="1554480" cy="256032"/>
          </a:xfrm>
          <a:prstGeom prst="rect">
            <a:avLst/>
          </a:prstGeom>
          <a:solidFill>
            <a:srgbClr val="162840"/>
          </a:solidFill>
          <a:ln w="10160">
            <a:solidFill>
              <a:srgbClr val="5A6E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云仿真平台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12264" y="4160520"/>
            <a:ext cx="1554480" cy="256032"/>
          </a:xfrm>
          <a:prstGeom prst="rect">
            <a:avLst/>
          </a:prstGeom>
          <a:solidFill>
            <a:srgbClr val="162840"/>
          </a:solidFill>
          <a:ln w="10160">
            <a:solidFill>
              <a:srgbClr val="5A6E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URDF设计引擎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13048" y="4160520"/>
            <a:ext cx="1554480" cy="256032"/>
          </a:xfrm>
          <a:prstGeom prst="rect">
            <a:avLst/>
          </a:prstGeom>
          <a:solidFill>
            <a:srgbClr val="162840"/>
          </a:solidFill>
          <a:ln w="10160">
            <a:solidFill>
              <a:srgbClr val="5A6E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测试认证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13832" y="4160520"/>
            <a:ext cx="1554480" cy="256032"/>
          </a:xfrm>
          <a:prstGeom prst="rect">
            <a:avLst/>
          </a:prstGeom>
          <a:solidFill>
            <a:srgbClr val="162840"/>
          </a:solidFill>
          <a:ln w="10160">
            <a:solidFill>
              <a:srgbClr val="5A6E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3832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开源生态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14616" y="4160520"/>
            <a:ext cx="1554480" cy="256032"/>
          </a:xfrm>
          <a:prstGeom prst="rect">
            <a:avLst/>
          </a:prstGeom>
          <a:solidFill>
            <a:srgbClr val="162840"/>
          </a:solidFill>
          <a:ln w="10160">
            <a:solidFill>
              <a:srgbClr val="5A6E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标准中心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E85"/>
                </a:solidFill>
              </a:rPr>
              <a:t>机器人生态服务平台  |  投资人/政府/高校/企业 路演版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行业背景与核心痛点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BACKGROUND &amp; PAIN POINTS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</a:rPr>
              <a:t>机器人产业高速增长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2023年全球机器人市场规模 </a:t>
            </a:r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765亿美元</a:t>
            </a:r>
            <a:pPr algn="l"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，预计2030年突破 </a:t>
            </a:r>
            <a:pPr algn="l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2100亿美元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年复合增长率超 </a:t>
            </a:r>
            <a:endParaRPr lang="en-US" sz="12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90FF"/>
                </a:solidFill>
              </a:rPr>
              <a:t>22%</a:t>
            </a:r>
            <a:pPr algn="l"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，具身智能成下一个万亿赛道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566160" cy="566928"/>
          </a:xfrm>
          <a:prstGeom prst="rect">
            <a:avLst/>
          </a:prstGeom>
          <a:solidFill>
            <a:srgbClr val="112233"/>
          </a:solidFill>
          <a:ln w="10160">
            <a:solidFill>
              <a:srgbClr val="1E9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87168"/>
            <a:ext cx="73152" cy="56692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78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765亿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全球市场规模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3566160" cy="566928"/>
          </a:xfrm>
          <a:prstGeom prst="rect">
            <a:avLst/>
          </a:prstGeom>
          <a:solidFill>
            <a:srgbClr val="112233"/>
          </a:solidFill>
          <a:ln w="10160">
            <a:solidFill>
              <a:srgbClr val="00D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45536"/>
            <a:ext cx="73152" cy="56692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36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年复合增长率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566160" cy="566928"/>
          </a:xfrm>
          <a:prstGeom prst="rect">
            <a:avLst/>
          </a:prstGeom>
          <a:solidFill>
            <a:srgbClr val="112233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03904"/>
            <a:ext cx="73152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953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28万亿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2024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中国制造业规模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078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研发链路六大核心痛点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2011680" cy="969264"/>
          </a:xfrm>
          <a:prstGeom prst="rect">
            <a:avLst/>
          </a:prstGeom>
          <a:solidFill>
            <a:srgbClr val="162840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508760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周期长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19110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从需求到原型平均需要6-18个月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39712" y="1508760"/>
            <a:ext cx="2011680" cy="969264"/>
          </a:xfrm>
          <a:prstGeom prst="rect">
            <a:avLst/>
          </a:prstGeom>
          <a:solidFill>
            <a:srgbClr val="162840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39712" y="1508760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🚧 门槛高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19110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URDF建模、仿真配置门槛极高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587752"/>
            <a:ext cx="2011680" cy="969264"/>
          </a:xfrm>
          <a:prstGeom prst="rect">
            <a:avLst/>
          </a:prstGeom>
          <a:solidFill>
            <a:srgbClr val="162840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587752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679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💸 仿真贵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高算力仿真集群购置成本动辄百万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39712" y="2587752"/>
            <a:ext cx="2011680" cy="969264"/>
          </a:xfrm>
          <a:prstGeom prst="rect">
            <a:avLst/>
          </a:prstGeom>
          <a:solidFill>
            <a:srgbClr val="162840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39712" y="2587752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679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测试难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缺乏标准化测试场地与评测体系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666744"/>
            <a:ext cx="2011680" cy="969264"/>
          </a:xfrm>
          <a:prstGeom prst="rect">
            <a:avLst/>
          </a:prstGeom>
          <a:solidFill>
            <a:srgbClr val="162840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666744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758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标准散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73168" y="4069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国标/行标/国际标准难以系统检索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39712" y="3666744"/>
            <a:ext cx="2011680" cy="969264"/>
          </a:xfrm>
          <a:prstGeom prst="rect">
            <a:avLst/>
          </a:prstGeom>
          <a:solidFill>
            <a:srgbClr val="162840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39712" y="3666744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758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认证繁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49440" y="4069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CR/CE/PSE等认证路径不透明复杂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solidFill>
            <a:srgbClr val="1060B8">
              <a:alpha val="7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 亟需一个打通全链路、降低门槛、提供云端算力+标准认证的一体化平台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平台定位与对标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BENCHMARK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657600" cy="356616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36576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嘉立创模式（电子硬件）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在线 EDA / PCB 设计工具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元器件数据库 + 一键选型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32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自动报价 + 快速打样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08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SMT 贴片 + 电子工厂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483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大规模量产 + 供应链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9593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工程师社区 + 课程生态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2651760"/>
            <a:ext cx="822960" cy="7315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9664" y="1645920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9664" y="257860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C8"/>
                </a:solidFill>
              </a:rPr>
              <a:t>➜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20640" y="1051560"/>
            <a:ext cx="3657600" cy="3566160"/>
          </a:xfrm>
          <a:prstGeom prst="rect">
            <a:avLst/>
          </a:prstGeom>
          <a:solidFill>
            <a:srgbClr val="162840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1051560"/>
            <a:ext cx="3657600" cy="41148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本平台模式（机器人全链路）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12080" y="1572768"/>
            <a:ext cx="201168" cy="20116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在线 URDF 设计引擎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12080" y="2048256"/>
            <a:ext cx="201168" cy="20116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零部件数据库 + 智能选型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12080" y="2523744"/>
            <a:ext cx="201168" cy="20116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2532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自动报价 + 方案输出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12080" y="2999232"/>
            <a:ext cx="201168" cy="20116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008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云仿真集群 + 编译部署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12080" y="3474720"/>
            <a:ext cx="201168" cy="20116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3483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实机测试场地 + 认证对接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12080" y="3950208"/>
            <a:ext cx="201168" cy="20116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04688" y="39593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</a:rPr>
              <a:t>开发者社区 + 课程 + 数据集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00D4C8">
              <a:alpha val="2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目标：让每个工程师像使用嘉立创一样，快速从想法到实体机器人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核心业务流程 — 全链路研发闭环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· END-TO-END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33856"/>
            <a:ext cx="329184" cy="329184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需求输入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场景/负载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自由度/续航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80160" y="1659636"/>
            <a:ext cx="41148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2164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21892" y="1133856"/>
            <a:ext cx="329184" cy="329184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1892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21892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智能选型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URDF设计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03604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参数匹配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模型生成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18004" y="1659636"/>
            <a:ext cx="41148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0008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9736" y="1133856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9736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59736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自动报价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方案输出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41448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BOM/结构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电气方案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55848" y="1659636"/>
            <a:ext cx="4114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7852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8A2BE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97580" y="1133856"/>
            <a:ext cx="329184" cy="329184"/>
          </a:xfrm>
          <a:prstGeom prst="ellipse">
            <a:avLst/>
          </a:prstGeom>
          <a:solidFill>
            <a:srgbClr val="8A2BE2"/>
          </a:solidFill>
          <a:ln w="12700">
            <a:solidFill>
              <a:srgbClr val="8A2B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7580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97580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云端仿真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9292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运动/碰撞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路径规划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93692" y="1659636"/>
            <a:ext cx="41148" cy="36576"/>
          </a:xfrm>
          <a:prstGeom prst="rect">
            <a:avLst/>
          </a:prstGeom>
          <a:solidFill>
            <a:srgbClr val="8A2BE2"/>
          </a:solidFill>
          <a:ln w="12700">
            <a:solidFill>
              <a:srgbClr val="8A2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696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35424" y="1133856"/>
            <a:ext cx="329184" cy="329184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35424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编译部署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17136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驱动适配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固件下载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31536" y="1659636"/>
            <a:ext cx="41148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63540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3268" y="1133856"/>
            <a:ext cx="329184" cy="329184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3268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3268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场地测试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54980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实机验证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极限工况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69380" y="1659636"/>
            <a:ext cx="41148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1384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611112" y="1133856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11112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标准合规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92824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标准检索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合规自测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507224" y="1659636"/>
            <a:ext cx="4114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39228" y="1024128"/>
            <a:ext cx="1005840" cy="1325880"/>
          </a:xfrm>
          <a:prstGeom prst="rect">
            <a:avLst/>
          </a:prstGeom>
          <a:solidFill>
            <a:srgbClr val="162840"/>
          </a:solidFill>
          <a:ln w="15240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48956" y="1133856"/>
            <a:ext cx="329184" cy="32918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48956" y="11521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648956" y="152704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认证落地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30668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CR/CE等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认证对接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7472" y="2487168"/>
            <a:ext cx="8449056" cy="36576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2542032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E85"/>
                </a:solidFill>
              </a:rPr>
              <a:t>← 数据反馈 · 持续迭代优化 →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2944368"/>
            <a:ext cx="2697480" cy="11430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65760" y="2944368"/>
            <a:ext cx="269748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054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云端算力平台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2920" y="34015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高性能GPU集群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弹性仿真资源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91840" y="2944368"/>
            <a:ext cx="2697480" cy="114300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291840" y="2944368"/>
            <a:ext cx="2697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29000" y="3054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标准认证体系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429000" y="34015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国家标准内置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认证路径导航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217920" y="2944368"/>
            <a:ext cx="2697480" cy="1143000"/>
          </a:xfrm>
          <a:prstGeom prst="rect">
            <a:avLst/>
          </a:prstGeom>
          <a:solidFill>
            <a:srgbClr val="162840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217920" y="2944368"/>
            <a:ext cx="269748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054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开源生态社区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355080" y="34015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URDF库/数据集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</a:rPr>
              <a:t>课程/算法中心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5760" y="4224528"/>
            <a:ext cx="84124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242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D4C8"/>
                </a:solidFill>
              </a:rPr>
              <a:t>全程数字化闭环  ·  云端+线下协同  ·  从想法到产品最快缩短80%研发周期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365760" y="4645152"/>
            <a:ext cx="1965960" cy="292608"/>
          </a:xfrm>
          <a:prstGeom prst="rect">
            <a:avLst/>
          </a:prstGeom>
          <a:solidFill>
            <a:srgbClr val="1060B8">
              <a:alpha val="60000"/>
            </a:srgbClr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6542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8步全链路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487168" y="4645152"/>
            <a:ext cx="1965960" cy="292608"/>
          </a:xfrm>
          <a:prstGeom prst="rect">
            <a:avLst/>
          </a:prstGeom>
          <a:solidFill>
            <a:srgbClr val="1060B8">
              <a:alpha val="60000"/>
            </a:srgbClr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87168" y="46542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最快2周原型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08576" y="4645152"/>
            <a:ext cx="1965960" cy="292608"/>
          </a:xfrm>
          <a:prstGeom prst="rect">
            <a:avLst/>
          </a:prstGeom>
          <a:solidFill>
            <a:srgbClr val="1060B8">
              <a:alpha val="60000"/>
            </a:srgbClr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08576" y="46542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云算力弹性扩容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729984" y="4645152"/>
            <a:ext cx="1965960" cy="292608"/>
          </a:xfrm>
          <a:prstGeom prst="rect">
            <a:avLst/>
          </a:prstGeom>
          <a:solidFill>
            <a:srgbClr val="1060B8">
              <a:alpha val="60000"/>
            </a:srgbClr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29984" y="46542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对接30+认证机构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七大资源中心总览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CORE RESOURCE CENTERS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" y="1005840"/>
            <a:ext cx="1170432" cy="2240280"/>
          </a:xfrm>
          <a:prstGeom prst="rect">
            <a:avLst/>
          </a:prstGeom>
          <a:solidFill>
            <a:srgbClr val="162840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005840"/>
            <a:ext cx="1170432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52144"/>
            <a:ext cx="512064" cy="512064"/>
          </a:xfrm>
          <a:prstGeom prst="ellipse">
            <a:avLst/>
          </a:prstGeom>
          <a:solidFill>
            <a:srgbClr val="1E90FF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18872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" y="175564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零部件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2267712"/>
            <a:ext cx="804672" cy="18288"/>
          </a:xfrm>
          <a:prstGeom prst="rect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34086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电机/减速器/控制器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传感器/底盘等标准件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支持选型、比价、采购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49908" y="1005840"/>
            <a:ext cx="1170432" cy="224028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49908" y="1005840"/>
            <a:ext cx="1170432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9092" y="1152144"/>
            <a:ext cx="512064" cy="512064"/>
          </a:xfrm>
          <a:prstGeom prst="ellipse">
            <a:avLst/>
          </a:prstGeom>
          <a:solidFill>
            <a:srgbClr val="00D4C8">
              <a:alpha val="8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9092" y="118872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4772" y="175564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URDF模型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2788" y="2267712"/>
            <a:ext cx="804672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4772" y="234086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轮式/足式/机械臂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人形机器人模型库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在线编辑、一键导出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98064" y="1005840"/>
            <a:ext cx="1170432" cy="224028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98064" y="1005840"/>
            <a:ext cx="11704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27248" y="1152144"/>
            <a:ext cx="512064" cy="512064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118872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52928" y="175564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开源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数据集中心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80944" y="2267712"/>
            <a:ext cx="804672" cy="18288"/>
          </a:xfrm>
          <a:prstGeom prst="rect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234086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具身智能/SLAM/视觉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运动控制/环境感知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免费下载用于训练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46220" y="1005840"/>
            <a:ext cx="1170432" cy="2240280"/>
          </a:xfrm>
          <a:prstGeom prst="rect">
            <a:avLst/>
          </a:prstGeom>
          <a:solidFill>
            <a:srgbClr val="16284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46220" y="1005840"/>
            <a:ext cx="1170432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5404" y="1152144"/>
            <a:ext cx="512064" cy="512064"/>
          </a:xfrm>
          <a:prstGeom prst="ellipse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5404" y="118872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101084" y="175564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开源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课程中心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29100" y="2267712"/>
            <a:ext cx="804672" cy="18288"/>
          </a:xfrm>
          <a:prstGeom prst="rect">
            <a:avLst/>
          </a:prstGeom>
          <a:solidFill>
            <a:srgbClr val="9B59B6">
              <a:alpha val="6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1084" y="234086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ROS/URDF/Gazebo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机器学习/具身智能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实战教程+文档体系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94376" y="1005840"/>
            <a:ext cx="1170432" cy="2240280"/>
          </a:xfrm>
          <a:prstGeom prst="rect">
            <a:avLst/>
          </a:prstGeom>
          <a:solidFill>
            <a:srgbClr val="16284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94376" y="1005840"/>
            <a:ext cx="1170432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3560" y="1152144"/>
            <a:ext cx="512064" cy="512064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118872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49240" y="175564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开源算法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项目中心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77256" y="2267712"/>
            <a:ext cx="804672" cy="18288"/>
          </a:xfrm>
          <a:prstGeom prst="rect">
            <a:avLst/>
          </a:prstGeom>
          <a:solidFill>
            <a:srgbClr val="E74C3C">
              <a:alpha val="6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234086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控制算法/驱动源码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仿真案例/开发框架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一键复用快速原型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42532" y="1005840"/>
            <a:ext cx="1170432" cy="2240280"/>
          </a:xfrm>
          <a:prstGeom prst="rect">
            <a:avLst/>
          </a:prstGeom>
          <a:solidFill>
            <a:srgbClr val="162840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42532" y="1005840"/>
            <a:ext cx="1170432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71716" y="1152144"/>
            <a:ext cx="512064" cy="512064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1716" y="118872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597396" y="175564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机器人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标准中心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25412" y="2267712"/>
            <a:ext cx="804672" cy="18288"/>
          </a:xfrm>
          <a:prstGeom prst="rect">
            <a:avLst/>
          </a:prstGeom>
          <a:solidFill>
            <a:srgbClr val="2ECC71">
              <a:alpha val="6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97396" y="234086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国标/行标/团标/国际标准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GB/T 11291等核心标准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合规检索+解读+自查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790688" y="1005840"/>
            <a:ext cx="1170432" cy="224028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790688" y="1005840"/>
            <a:ext cx="11704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9872" y="1152144"/>
            <a:ext cx="512064" cy="512064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19872" y="118872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845552" y="175564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机器人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认证中心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973568" y="2267712"/>
            <a:ext cx="804672" cy="18288"/>
          </a:xfrm>
          <a:prstGeom prst="rect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45552" y="234086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CR/CE/PSE/TELEC等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国内+国际认证路径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</a:rPr>
              <a:t>自测工具+认证对接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3474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2000+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2920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5"/>
                </a:solidFill>
              </a:rPr>
              <a:t>标准件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700784" y="3474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500+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700784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5"/>
                </a:solidFill>
              </a:rPr>
              <a:t>URDF模型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898648" y="3474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100+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898648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5"/>
                </a:solidFill>
              </a:rPr>
              <a:t>数据集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096512" y="3474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200+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096512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5"/>
                </a:solidFill>
              </a:rPr>
              <a:t>课程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294376" y="3474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300+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294376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5"/>
                </a:solidFill>
              </a:rPr>
              <a:t>算法项目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492240" y="3474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800+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492240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5"/>
                </a:solidFill>
              </a:rPr>
              <a:t>标准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690104" y="3474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20+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690104" y="360273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5"/>
                </a:solidFill>
              </a:rPr>
              <a:t>认证路径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57200" y="3803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8B8CC"/>
                </a:solidFill>
              </a:rPr>
              <a:t>全部资源均支持在线检索、筛选、一键调用，打通研发全链路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机器人标准中心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STANDARDS CENTER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162840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标准体系四层架构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3749040" cy="676656"/>
          </a:xfrm>
          <a:prstGeom prst="rect">
            <a:avLst/>
          </a:prstGeom>
          <a:solidFill>
            <a:srgbClr val="112233"/>
          </a:solidFill>
          <a:ln w="10160">
            <a:solidFill>
              <a:srgbClr val="1E9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81328"/>
            <a:ext cx="73152" cy="67665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0FF"/>
                </a:solidFill>
              </a:rPr>
              <a:t>国家标准 GB/T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由国家标准化管理委员会发布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强制+推荐双轨体系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15910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400+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2267712"/>
            <a:ext cx="3749040" cy="676656"/>
          </a:xfrm>
          <a:prstGeom prst="rect">
            <a:avLst/>
          </a:prstGeom>
          <a:solidFill>
            <a:srgbClr val="112233"/>
          </a:solidFill>
          <a:ln w="10160">
            <a:solidFill>
              <a:srgbClr val="00D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67712"/>
            <a:ext cx="73152" cy="67665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行业标准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机械、电子、信息等行业主管部门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针对特定细分领域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3054096"/>
            <a:ext cx="3749040" cy="676656"/>
          </a:xfrm>
          <a:prstGeom prst="rect">
            <a:avLst/>
          </a:prstGeom>
          <a:solidFill>
            <a:srgbClr val="112233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54096"/>
            <a:ext cx="73152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团体标准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学会/协会制定，灵活快速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先于国标响应新兴技术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31638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3749040" cy="676656"/>
          </a:xfrm>
          <a:prstGeom prst="rect">
            <a:avLst/>
          </a:prstGeom>
          <a:solidFill>
            <a:srgbClr val="112233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840480"/>
            <a:ext cx="73152" cy="67665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国际标准 ISO/IEC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ISO 9787等国际通行规范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出口合规必要依据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80+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0" y="1005840"/>
            <a:ext cx="4206240" cy="3657600"/>
          </a:xfrm>
          <a:prstGeom prst="rect">
            <a:avLst/>
          </a:prstGeom>
          <a:solidFill>
            <a:srgbClr val="162840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005840"/>
            <a:ext cx="420624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核心标准清单（平台内置）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1463040"/>
            <a:ext cx="3931920" cy="329184"/>
          </a:xfrm>
          <a:prstGeom prst="rect">
            <a:avLst/>
          </a:prstGeom>
          <a:solidFill>
            <a:srgbClr val="112233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499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GB/T 11291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工业机器人 安全要求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75320" y="1517904"/>
            <a:ext cx="347472" cy="201168"/>
          </a:xfrm>
          <a:prstGeom prst="rect">
            <a:avLst/>
          </a:prstGeom>
          <a:solidFill>
            <a:srgbClr val="1E90FF">
              <a:alpha val="80000"/>
            </a:srgbClr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152704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安全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1847088"/>
            <a:ext cx="393192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883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GB/T 30244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服务机器人 安全通用要求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75320" y="1901952"/>
            <a:ext cx="347472" cy="201168"/>
          </a:xfrm>
          <a:prstGeom prst="rect">
            <a:avLst/>
          </a:prstGeom>
          <a:solidFill>
            <a:srgbClr val="1E90FF">
              <a:alpha val="80000"/>
            </a:srgbClr>
          </a:solidFill>
          <a:ln w="7620">
            <a:solidFill>
              <a:srgbClr val="1E9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19110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安全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09160" y="2231136"/>
            <a:ext cx="3931920" cy="329184"/>
          </a:xfrm>
          <a:prstGeom prst="rect">
            <a:avLst/>
          </a:prstGeom>
          <a:solidFill>
            <a:srgbClr val="112233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GB/T 45509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0936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工业机器人 动态稳定性试验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75320" y="2286000"/>
            <a:ext cx="347472" cy="201168"/>
          </a:xfrm>
          <a:prstGeom prst="rect">
            <a:avLst/>
          </a:prstGeom>
          <a:solidFill>
            <a:srgbClr val="00D4C8">
              <a:alpha val="80000"/>
            </a:srgbClr>
          </a:solidFill>
          <a:ln w="7620">
            <a:solidFill>
              <a:srgbClr val="00D4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22951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性能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09160" y="2615184"/>
            <a:ext cx="393192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651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GB/T 33265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0936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教育机器人 安全要求及测试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5320" y="2670048"/>
            <a:ext cx="347472" cy="201168"/>
          </a:xfrm>
          <a:prstGeom prst="rect">
            <a:avLst/>
          </a:prstGeom>
          <a:solidFill>
            <a:srgbClr val="2ECC71">
              <a:alpha val="80000"/>
            </a:srgbClr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26791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教育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709160" y="2999232"/>
            <a:ext cx="3931920" cy="329184"/>
          </a:xfrm>
          <a:prstGeom prst="rect">
            <a:avLst/>
          </a:prstGeom>
          <a:solidFill>
            <a:srgbClr val="112233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GB/T 47231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09360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工业重载移动机器人性能要求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75320" y="3054096"/>
            <a:ext cx="347472" cy="201168"/>
          </a:xfrm>
          <a:prstGeom prst="rect">
            <a:avLst/>
          </a:prstGeom>
          <a:solidFill>
            <a:srgbClr val="00D4C8">
              <a:alpha val="80000"/>
            </a:srgbClr>
          </a:solidFill>
          <a:ln w="7620">
            <a:solidFill>
              <a:srgbClr val="00D4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75320" y="3063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性能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709160" y="3383280"/>
            <a:ext cx="393192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419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GB/T 46366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0936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管道内检测机器人通用技术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275320" y="3438144"/>
            <a:ext cx="347472" cy="201168"/>
          </a:xfrm>
          <a:prstGeom prst="rect">
            <a:avLst/>
          </a:prstGeom>
          <a:solidFill>
            <a:srgbClr val="2ECC71">
              <a:alpha val="80000"/>
            </a:srgbClr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75320" y="34472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特种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09160" y="3767328"/>
            <a:ext cx="3931920" cy="329184"/>
          </a:xfrm>
          <a:prstGeom prst="rect">
            <a:avLst/>
          </a:prstGeom>
          <a:solidFill>
            <a:srgbClr val="112233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803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ISO 9787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30936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机器人坐标系和运动命名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275320" y="3822192"/>
            <a:ext cx="347472" cy="201168"/>
          </a:xfrm>
          <a:prstGeom prst="rect">
            <a:avLst/>
          </a:prstGeom>
          <a:solidFill>
            <a:srgbClr val="F5A623">
              <a:alpha val="80000"/>
            </a:srgbClr>
          </a:solidFill>
          <a:ln w="7620">
            <a:solidFill>
              <a:srgbClr val="F5A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383133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国际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09160" y="4151376"/>
            <a:ext cx="393192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ROS REP 103/105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30936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标准单位与坐标系规范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275320" y="4206240"/>
            <a:ext cx="347472" cy="201168"/>
          </a:xfrm>
          <a:prstGeom prst="rect">
            <a:avLst/>
          </a:prstGeom>
          <a:solidFill>
            <a:srgbClr val="2ECC71">
              <a:alpha val="80000"/>
            </a:srgbClr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75320" y="42153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开源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平台功能：标准智能检索 · 条文解读 · 合规自查清单生成 · 差距分析报告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机器人认证中心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CERTIFICATION CENTER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572768" cy="731520"/>
          </a:xfrm>
          <a:prstGeom prst="rect">
            <a:avLst/>
          </a:prstGeom>
          <a:solidFill>
            <a:srgbClr val="162840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572768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中国机器人认证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005840"/>
            <a:ext cx="1572768" cy="731520"/>
          </a:xfrm>
          <a:prstGeom prst="rect">
            <a:avLst/>
          </a:prstGeom>
          <a:solidFill>
            <a:srgbClr val="162840"/>
          </a:solidFill>
          <a:ln w="19050">
            <a:solidFill>
              <a:srgbClr val="1E8BC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005840"/>
            <a:ext cx="1572768" cy="54864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078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BC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30552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欧盟合规认证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03904" y="1005840"/>
            <a:ext cx="1572768" cy="73152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1005840"/>
            <a:ext cx="1572768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1078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9624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欧亚经济联盟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2976" y="1005840"/>
            <a:ext cx="1572768" cy="73152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22976" y="1005840"/>
            <a:ext cx="15727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078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KC/PSE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68696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韩国/日本认证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2048" y="1005840"/>
            <a:ext cx="1572768" cy="731520"/>
          </a:xfrm>
          <a:prstGeom prst="rect">
            <a:avLst/>
          </a:prstGeom>
          <a:solidFill>
            <a:srgbClr val="16284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42048" y="1005840"/>
            <a:ext cx="157276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1078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TELEC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87768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C"/>
                </a:solidFill>
              </a:rPr>
              <a:t>日本无线认证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1920240"/>
            <a:ext cx="4023360" cy="2743200"/>
          </a:xfrm>
          <a:prstGeom prst="rect">
            <a:avLst/>
          </a:prstGeom>
          <a:solidFill>
            <a:srgbClr val="162840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1920240"/>
            <a:ext cx="402336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1993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国内认证体系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242316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1E9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423160"/>
            <a:ext cx="73152" cy="4572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24780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0FF"/>
                </a:solidFill>
              </a:rPr>
              <a:t>CR认证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0876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中国机器人认证（工业/服务机器人核心准入）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00D4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2971800"/>
            <a:ext cx="73152" cy="4572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0266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CMA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0876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检验检测机构资质认定（出具有效报告必须）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52044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520440"/>
            <a:ext cx="7315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5753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CNAS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508760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实验室认可（国际互认，提升结果权威性）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406908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069080"/>
            <a:ext cx="73152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1239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3C强制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50876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部分类别产品强制认证（安全底线）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1920240"/>
            <a:ext cx="4023360" cy="2743200"/>
          </a:xfrm>
          <a:prstGeom prst="rect">
            <a:avLst/>
          </a:prstGeom>
          <a:solidFill>
            <a:srgbClr val="162840"/>
          </a:solidFill>
          <a:ln w="1524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1920240"/>
            <a:ext cx="402336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1993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国际认证体系（出口合规）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2040" y="242316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1E8BC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92040" y="2423160"/>
            <a:ext cx="73152" cy="4572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24780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BC3"/>
                </a:solidFill>
              </a:rPr>
              <a:t>CE认证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98932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欧盟机械指令MD+低电压LVD+电磁兼容EMC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92040" y="297180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00D4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2971800"/>
            <a:ext cx="73152" cy="4572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4920" y="3026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EAC认证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98932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欧亚经济联盟（俄/白俄/哈萨克等国进入）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92040" y="352044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3520440"/>
            <a:ext cx="7315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4920" y="3575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KC认证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989320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韩国安全+EMC综合认证（进入韩市场）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92040" y="4069080"/>
            <a:ext cx="3749040" cy="457200"/>
          </a:xfrm>
          <a:prstGeom prst="rect">
            <a:avLst/>
          </a:prstGeom>
          <a:solidFill>
            <a:srgbClr val="112233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2040" y="4069080"/>
            <a:ext cx="73152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74920" y="41239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PSE/TELEC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98932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日本电气安全+无线通信合规认证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平台功能：认证路径一键匹配 · 自测工具 · 认证机构对接 · 检测报告模板生成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核心技术能力矩阵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CAPABILITIES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011680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01168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152144"/>
            <a:ext cx="640080" cy="640080"/>
          </a:xfrm>
          <a:prstGeom prst="ellipse">
            <a:avLst/>
          </a:prstGeom>
          <a:solidFill>
            <a:srgbClr val="1E90FF">
              <a:alpha val="75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070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URDF设计引擎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304288"/>
            <a:ext cx="1463040" cy="18288"/>
          </a:xfrm>
          <a:prstGeom prst="rect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432304"/>
            <a:ext cx="128016" cy="12801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14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在线可视化URDF编辑器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834640"/>
            <a:ext cx="128016" cy="12801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8163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零部件库拖拽式装配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3236976"/>
            <a:ext cx="128016" cy="12801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18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碰撞体/惯性自动生成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639312"/>
            <a:ext cx="128016" cy="12801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6210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一键导出至仿真/控制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4041648"/>
            <a:ext cx="128016" cy="12801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23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支持XACRO/SDF扩展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96312" y="1005840"/>
            <a:ext cx="2011680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96312" y="1005840"/>
            <a:ext cx="201168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82112" y="1152144"/>
            <a:ext cx="640080" cy="640080"/>
          </a:xfrm>
          <a:prstGeom prst="ellipse">
            <a:avLst/>
          </a:prstGeom>
          <a:solidFill>
            <a:srgbClr val="00D4C8">
              <a:alpha val="7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12070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87752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云仿真平台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70632" y="2304288"/>
            <a:ext cx="1463040" cy="18288"/>
          </a:xfrm>
          <a:prstGeom prst="rect">
            <a:avLst/>
          </a:prstGeom>
          <a:solidFill>
            <a:srgbClr val="00D4C8">
              <a:alpha val="7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60904" y="2432304"/>
            <a:ext cx="128016" cy="12801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43784" y="2414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GPU集群弹性算力调度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60904" y="2834640"/>
            <a:ext cx="128016" cy="12801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43784" y="28163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ROS/Gazebo/MuJoCo支持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60904" y="3236976"/>
            <a:ext cx="128016" cy="12801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43784" y="3218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运动/碰撞/步态仿真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60904" y="3639312"/>
            <a:ext cx="128016" cy="12801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43784" y="36210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强化学习训练环境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60904" y="4041648"/>
            <a:ext cx="128016" cy="12801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43784" y="4023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多机并行仿真加速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72584" y="1005840"/>
            <a:ext cx="2011680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72584" y="1005840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58384" y="1152144"/>
            <a:ext cx="640080" cy="640080"/>
          </a:xfrm>
          <a:prstGeom prst="ellipse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58384" y="12070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764024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编译部署系统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46904" y="2304288"/>
            <a:ext cx="1463040" cy="18288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37176" y="2432304"/>
            <a:ext cx="12801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2414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多平台驱动自动适配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37176" y="2834640"/>
            <a:ext cx="12801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0056" y="28163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固件OTA一键下发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37176" y="3236976"/>
            <a:ext cx="12801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0056" y="3218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CI/CD持续集成流水线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37176" y="3639312"/>
            <a:ext cx="12801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0056" y="36210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容器化部署支持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37176" y="4041648"/>
            <a:ext cx="12801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0056" y="4023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实机状态远程监控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48856" y="1005840"/>
            <a:ext cx="2011680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48856" y="1005840"/>
            <a:ext cx="201168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34656" y="1152144"/>
            <a:ext cx="640080" cy="640080"/>
          </a:xfrm>
          <a:prstGeom prst="ellipse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34656" y="12070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940296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测试场站体系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123176" y="2304288"/>
            <a:ext cx="1463040" cy="18288"/>
          </a:xfrm>
          <a:prstGeom prst="rect">
            <a:avLst/>
          </a:prstGeom>
          <a:solidFill>
            <a:srgbClr val="E74C3C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13448" y="2432304"/>
            <a:ext cx="128016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96328" y="24140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国家级测试场地预约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13448" y="2834640"/>
            <a:ext cx="128016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96328" y="28163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标准化环境工况复现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13448" y="3236976"/>
            <a:ext cx="128016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96328" y="32186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传感器/负载/稳定性测试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013448" y="3639312"/>
            <a:ext cx="128016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96328" y="36210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极限工况应力测试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013448" y="4041648"/>
            <a:ext cx="128016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96328" y="4023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第三方测试报告出具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solidFill>
            <a:srgbClr val="1060B8">
              <a:alpha val="5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自研核心引擎  ·  专利保护  ·  持续迭代  ·  开放API接口  ·  企业级SLA保障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目标用户画像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PROFILES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1572768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1572768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152144"/>
            <a:ext cx="548640" cy="548640"/>
          </a:xfrm>
          <a:prstGeom prst="ellipse">
            <a:avLst/>
          </a:prstGeom>
          <a:solidFill>
            <a:srgbClr val="1E90FF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1887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高校实验室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</a:rPr>
              <a:t>机器人/AI/控制专业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1298448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1401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核心痛点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6151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科研经费有限，买不起高性能仿真服务器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URDF建模周期长，影响科研效率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平台价值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5478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免费/低价云算力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3858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开源数据集+课程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4169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快速原型验证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39112" y="1005840"/>
            <a:ext cx="1572768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39112" y="1005840"/>
            <a:ext cx="1572768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1176" y="1152144"/>
            <a:ext cx="548640" cy="548640"/>
          </a:xfrm>
          <a:prstGeom prst="ellipse">
            <a:avLst/>
          </a:prstGeom>
          <a:solidFill>
            <a:srgbClr val="00D4C8">
              <a:alpha val="8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51176" y="11887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084832" y="18105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科创团队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84832" y="208483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C8"/>
                </a:solidFill>
              </a:rPr>
              <a:t>创业公司/创新团队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76272" y="2340864"/>
            <a:ext cx="1298448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0552" y="241401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核心痛点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30552" y="26151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从0到1成本极高，验证周期太长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130552" y="294436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找不到合适零部件和设计模板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130552" y="33467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平台价值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30552" y="35478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全链路快速验证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130552" y="3858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智能选型+报价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130552" y="4169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云仿真降本增效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758184" y="1005840"/>
            <a:ext cx="1572768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58184" y="1005840"/>
            <a:ext cx="15727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0248" y="1152144"/>
            <a:ext cx="548640" cy="54864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0248" y="11887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803904" y="18105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中小制造企业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03904" y="208483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</a:rPr>
              <a:t>工业/服务机器人厂商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95344" y="2340864"/>
            <a:ext cx="1298448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9624" y="241401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核心痛点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49624" y="26151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测试认证成本高，找不到权威测试机构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9624" y="294436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国内外认证路径不清晰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849624" y="33467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平台价值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49624" y="35478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测试场预约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849624" y="3858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标准认证一站式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849624" y="4169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合规快速通关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77256" y="1005840"/>
            <a:ext cx="1572768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77256" y="1005840"/>
            <a:ext cx="157276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1152144"/>
            <a:ext cx="548640" cy="548640"/>
          </a:xfrm>
          <a:prstGeom prst="ellipse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11887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522976" y="18105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科研院所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22976" y="208483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59B6"/>
                </a:solidFill>
              </a:rPr>
              <a:t>国家级/省级研究机构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14416" y="2340864"/>
            <a:ext cx="1298448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68696" y="241401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核心痛点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568696" y="26151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跨机构协作难，成果转化通道不畅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568696" y="294436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数据孤岛，资源重复建设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568696" y="33467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平台价值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568696" y="35478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数据共享平台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568696" y="3858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标准参与制定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568696" y="4169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成果转化对接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196328" y="1005840"/>
            <a:ext cx="1572768" cy="3657600"/>
          </a:xfrm>
          <a:prstGeom prst="rect">
            <a:avLst/>
          </a:prstGeom>
          <a:solidFill>
            <a:srgbClr val="16284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196328" y="1005840"/>
            <a:ext cx="1572768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08392" y="1152144"/>
            <a:ext cx="548640" cy="548640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08392" y="11887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7242048" y="18105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独立开发者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242048" y="208483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74C3C"/>
                </a:solidFill>
              </a:rPr>
              <a:t>Maker/极客/工程师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33488" y="2340864"/>
            <a:ext cx="1298448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87768" y="241401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核心痛点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287768" y="26151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个人开发者资源极度匮乏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287768" y="294436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• 缺乏社区与专业支持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287768" y="33467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平台价值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287768" y="35478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免费开源资源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287768" y="3858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活跃社区生态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287768" y="4169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C"/>
                </a:solidFill>
              </a:rPr>
              <a:t>✓ 一站式工具链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C8"/>
                </a:solidFill>
              </a:rPr>
              <a:t>覆盖 20万+ 潜在开发者用户  ·  千家科研机构  ·  万家中小机器人企业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1609344"/>
          </a:xfrm>
          <a:prstGeom prst="rect">
            <a:avLst/>
          </a:prstGeom>
          <a:solidFill>
            <a:srgbClr val="162840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硬件集采分润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</a:rPr>
              <a:t>零部件平台撮合交易，收取5-10%佣金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2377440" cy="320040"/>
          </a:xfrm>
          <a:prstGeom prst="rect">
            <a:avLst/>
          </a:prstGeom>
          <a:solidFill>
            <a:srgbClr val="1E90FF">
              <a:alpha val="25000"/>
            </a:srgbClr>
          </a:solidFill>
          <a:ln w="635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128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预计年GMV 2亿+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651760" cy="1609344"/>
          </a:xfrm>
          <a:prstGeom prst="rect">
            <a:avLst/>
          </a:prstGeom>
          <a:solidFill>
            <a:srgbClr val="162840"/>
          </a:solidFill>
          <a:ln w="1524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  云算力订阅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1600200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</a:rPr>
              <a:t>按时长/资源量收费，月费制+弹性包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2176272"/>
            <a:ext cx="2377440" cy="320040"/>
          </a:xfrm>
          <a:prstGeom prst="rect">
            <a:avLst/>
          </a:prstGeom>
          <a:solidFill>
            <a:srgbClr val="00D4C8">
              <a:alpha val="25000"/>
            </a:srgbClr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2128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单用户ARPU 500-5000元/月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2651760" cy="1609344"/>
          </a:xfrm>
          <a:prstGeom prst="rect">
            <a:avLst/>
          </a:prstGeom>
          <a:solidFill>
            <a:srgbClr val="162840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0584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2940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🏭  场地预约服务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1600200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</a:rPr>
              <a:t>测试场按日/项目收费，高端检测服务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176272"/>
            <a:ext cx="2377440" cy="320040"/>
          </a:xfrm>
          <a:prstGeom prst="rect">
            <a:avLst/>
          </a:prstGeom>
          <a:solidFill>
            <a:srgbClr val="F5A623">
              <a:alpha val="25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2128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单次测试 5000-50000元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798064"/>
            <a:ext cx="2651760" cy="1609344"/>
          </a:xfrm>
          <a:prstGeom prst="rect">
            <a:avLst/>
          </a:prstGeom>
          <a:solidFill>
            <a:srgbClr val="162840"/>
          </a:solidFill>
          <a:ln w="15240">
            <a:solidFill>
              <a:srgbClr val="9B59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2798064"/>
            <a:ext cx="265176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8895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0120" y="2935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 认证咨询服务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3392424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</a:rPr>
              <a:t>认证陪跑、文件代理、专家咨询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968496"/>
            <a:ext cx="2377440" cy="320040"/>
          </a:xfrm>
          <a:prstGeom prst="rect">
            <a:avLst/>
          </a:prstGeom>
          <a:solidFill>
            <a:srgbClr val="9B59B6">
              <a:alpha val="25000"/>
            </a:srgbClr>
          </a:solidFill>
          <a:ln w="635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050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单项目 2-20万元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2798064"/>
            <a:ext cx="2651760" cy="1609344"/>
          </a:xfrm>
          <a:prstGeom prst="rect">
            <a:avLst/>
          </a:prstGeom>
          <a:solidFill>
            <a:srgbClr val="162840"/>
          </a:solidFill>
          <a:ln w="15240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2798064"/>
            <a:ext cx="26517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28895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794760" y="2935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📚  课程与培训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337560" y="3392424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</a:rPr>
              <a:t>在线课程、训练营、企业内训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337560" y="3968496"/>
            <a:ext cx="2377440" cy="320040"/>
          </a:xfrm>
          <a:prstGeom prst="rect">
            <a:avLst/>
          </a:prstGeom>
          <a:solidFill>
            <a:srgbClr val="E74C3C">
              <a:alpha val="25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40050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年营收目标 3000万+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2798064"/>
            <a:ext cx="2651760" cy="1609344"/>
          </a:xfrm>
          <a:prstGeom prst="rect">
            <a:avLst/>
          </a:prstGeom>
          <a:solidFill>
            <a:srgbClr val="162840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2798064"/>
            <a:ext cx="26517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8895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629400" y="2935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💻  定制开发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172200" y="3392424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C"/>
                </a:solidFill>
              </a:rPr>
              <a:t>企业专属URDF设计、私有仿真环境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72200" y="3968496"/>
            <a:ext cx="2377440" cy="320040"/>
          </a:xfrm>
          <a:prstGeom prst="rect">
            <a:avLst/>
          </a:prstGeom>
          <a:solidFill>
            <a:srgbClr val="2ECC71">
              <a:alpha val="25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0050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单项目 10-100万元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869680" y="1005840"/>
            <a:ext cx="18288" cy="3657600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solidFill>
            <a:srgbClr val="1060B8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预计3年营收目标：第1年 3000万 → 第2年 1.2亿 → 第3年 5亿+  （综合毛利率 60%+）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核心竞争优势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754880" cy="3657600"/>
          </a:xfrm>
          <a:prstGeom prst="rect">
            <a:avLst/>
          </a:prstGeom>
          <a:solidFill>
            <a:srgbClr val="162840"/>
          </a:solidFill>
          <a:ln w="1524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75488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四大差异化护城河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480560" cy="658368"/>
          </a:xfrm>
          <a:prstGeom prst="rect">
            <a:avLst/>
          </a:prstGeom>
          <a:solidFill>
            <a:srgbClr val="112233"/>
          </a:solidFill>
          <a:ln w="10160">
            <a:solidFill>
              <a:srgbClr val="1E9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645920"/>
            <a:ext cx="384048" cy="38404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563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0FF"/>
                </a:solidFill>
              </a:rPr>
              <a:t>全链路闭环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18196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业界唯一覆盖需求→设计→仿真→部署→测试→认证全流程的云端平台，无需多平台切换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276856"/>
            <a:ext cx="4480560" cy="658368"/>
          </a:xfrm>
          <a:prstGeom prst="rect">
            <a:avLst/>
          </a:prstGeom>
          <a:solidFill>
            <a:srgbClr val="112233"/>
          </a:solidFill>
          <a:ln w="10160">
            <a:solidFill>
              <a:srgbClr val="00D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414016"/>
            <a:ext cx="384048" cy="38404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323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331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</a:rPr>
              <a:t>标准+认证一体化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587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内置800+标准、20+认证路径，实现「设计即合规」，从源头避免返工，降低合规成本90%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44952"/>
            <a:ext cx="4480560" cy="658368"/>
          </a:xfrm>
          <a:prstGeom prst="rect">
            <a:avLst/>
          </a:prstGeom>
          <a:solidFill>
            <a:srgbClr val="112233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8211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004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099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云端+线下场站协同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3558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云仿真验证+国家级线下测试场无缝衔接，数据贯通，仿真到实机验证0摩擦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813048"/>
            <a:ext cx="4480560" cy="658368"/>
          </a:xfrm>
          <a:prstGeom prst="rect">
            <a:avLst/>
          </a:prstGeom>
          <a:solidFill>
            <a:srgbClr val="112233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950208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968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3867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开源生态壁垒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1239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</a:rPr>
              <a:t>汇聚全球机器人开源资源，构建开发者社区，形成网络效应，越用越强的飞轮效应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0" y="1005840"/>
            <a:ext cx="3474720" cy="3657600"/>
          </a:xfrm>
          <a:prstGeom prst="rect">
            <a:avLst/>
          </a:prstGeom>
          <a:solidFill>
            <a:srgbClr val="162840"/>
          </a:solidFill>
          <a:ln w="1524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1005840"/>
            <a:ext cx="347472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竞品对比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94960" y="1508760"/>
            <a:ext cx="1371600" cy="274320"/>
          </a:xfrm>
          <a:prstGeom prst="rect">
            <a:avLst/>
          </a:prstGeom>
          <a:solidFill>
            <a:srgbClr val="112233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1517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能力维度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0" y="1508760"/>
            <a:ext cx="914400" cy="274320"/>
          </a:xfrm>
          <a:prstGeom prst="rect">
            <a:avLst/>
          </a:prstGeom>
          <a:solidFill>
            <a:srgbClr val="112233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5179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本平台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63840" y="1508760"/>
            <a:ext cx="914400" cy="274320"/>
          </a:xfrm>
          <a:prstGeom prst="rect">
            <a:avLst/>
          </a:prstGeom>
          <a:solidFill>
            <a:srgbClr val="112233"/>
          </a:solidFill>
          <a:ln w="6350">
            <a:solidFill>
              <a:srgbClr val="2A3D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15179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C8"/>
                </a:solidFill>
              </a:rPr>
              <a:t>传统方案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1847088"/>
            <a:ext cx="13716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1883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全链路覆盖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0" y="1847088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1883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63840" y="1847088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1883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94960" y="2194560"/>
            <a:ext cx="13716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22311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云仿真集群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0" y="2194560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2231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63840" y="2194560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2231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❌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2542032"/>
            <a:ext cx="13716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0680" y="2578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URDF在线设计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58000" y="2542032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2578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63840" y="2542032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2578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△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94960" y="2889504"/>
            <a:ext cx="13716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40680" y="2926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标准内置检索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0" y="2889504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2926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863840" y="2889504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09560" y="2926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❌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394960" y="3236976"/>
            <a:ext cx="13716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0680" y="32735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认证路径导航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58000" y="3236976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03720" y="3273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863840" y="3236976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9560" y="3273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△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394960" y="3584448"/>
            <a:ext cx="13716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40680" y="3621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线下测试场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858000" y="3584448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03720" y="36210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863840" y="3584448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09560" y="36210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需外包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394960" y="3931920"/>
            <a:ext cx="13716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40680" y="39684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开源生态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858000" y="3931920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03720" y="3968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863840" y="3931920"/>
            <a:ext cx="914400" cy="292608"/>
          </a:xfrm>
          <a:prstGeom prst="rect">
            <a:avLst/>
          </a:prstGeom>
          <a:solidFill>
            <a:srgbClr val="112233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09560" y="3968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△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394960" y="4279392"/>
            <a:ext cx="13716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40680" y="4315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一键部署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858000" y="4279392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03720" y="43159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✅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863840" y="4279392"/>
            <a:ext cx="91440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2A3D5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09560" y="43159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❌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C8"/>
                </a:solidFill>
              </a:rPr>
              <a:t>技术壁垒 × 生态壁垒 × 数据壁垒 × 认证壁垒  ——  四重护城河构筑长期竞争优势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164592" cy="5029200"/>
          </a:xfrm>
          <a:prstGeom prst="rect">
            <a:avLst/>
          </a:prstGeom>
          <a:solidFill>
            <a:srgbClr val="1060B8"/>
          </a:solidFill>
          <a:ln w="12700">
            <a:solidFill>
              <a:srgbClr val="1060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 · 愿景 · 期待合作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4572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87552"/>
            <a:ext cx="2697480" cy="1463040"/>
          </a:xfrm>
          <a:prstGeom prst="rect">
            <a:avLst/>
          </a:prstGeom>
          <a:solidFill>
            <a:srgbClr val="162840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987552"/>
            <a:ext cx="269748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115568"/>
            <a:ext cx="475488" cy="475488"/>
          </a:xfrm>
          <a:prstGeom prst="ellipse">
            <a:avLst/>
          </a:prstGeom>
          <a:solidFill>
            <a:srgbClr val="1E90FF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1521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9576" y="115214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平台定位清晰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1700784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77393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国内首个机器人全链路云端研发生态平台，对标嘉立创模式，填补行业空白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9272" y="987552"/>
            <a:ext cx="2697480" cy="1463040"/>
          </a:xfrm>
          <a:prstGeom prst="rect">
            <a:avLst/>
          </a:prstGeom>
          <a:solidFill>
            <a:srgbClr val="162840"/>
          </a:solidFill>
          <a:ln w="19050">
            <a:solidFill>
              <a:srgbClr val="00D4C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987552"/>
            <a:ext cx="2697480" cy="54864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3864" y="1115568"/>
            <a:ext cx="475488" cy="475488"/>
          </a:xfrm>
          <a:prstGeom prst="ellipse">
            <a:avLst/>
          </a:prstGeom>
          <a:solidFill>
            <a:srgbClr val="00D4C8">
              <a:alpha val="8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11521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87368" y="115214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闭环生态构建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83864" y="1700784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3864" y="177393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七大资源中心+全链路流程+标准认证一体化，形成独特竞争壁垒和网络效应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27064" y="987552"/>
            <a:ext cx="2697480" cy="1463040"/>
          </a:xfrm>
          <a:prstGeom prst="rect">
            <a:avLst/>
          </a:prstGeom>
          <a:solidFill>
            <a:srgbClr val="1628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27064" y="987552"/>
            <a:ext cx="2697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1656" y="1115568"/>
            <a:ext cx="475488" cy="47548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11521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115214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商业可行性强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91656" y="1700784"/>
            <a:ext cx="2377440" cy="18288"/>
          </a:xfrm>
          <a:prstGeom prst="rect">
            <a:avLst/>
          </a:prstGeom>
          <a:solidFill>
            <a:srgbClr val="2A3D54"/>
          </a:solidFill>
          <a:ln w="12700">
            <a:solidFill>
              <a:srgbClr val="2A3D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177393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</a:rPr>
              <a:t>六大收入来源，3年目标5亿+营收，综合毛利率60%+，可持续盈利模型清晰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633472"/>
            <a:ext cx="8321040" cy="777240"/>
          </a:xfrm>
          <a:prstGeom prst="rect">
            <a:avLst/>
          </a:prstGeom>
          <a:solidFill>
            <a:srgbClr val="112233"/>
          </a:solidFill>
          <a:ln w="12700">
            <a:solidFill>
              <a:srgbClr val="2A3D5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2633472"/>
            <a:ext cx="73152" cy="7772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平台愿景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29443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8CC"/>
                </a:solidFill>
              </a:rPr>
              <a:t>成为中国机器人开发者最信赖的基础设施平台——让每一个有想法的工程师，都能以最低成本、最快速度，把机器人从设计图变成现实。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3566160"/>
            <a:ext cx="8321040" cy="640080"/>
          </a:xfrm>
          <a:prstGeom prst="rect">
            <a:avLst/>
          </a:prstGeom>
          <a:solidFill>
            <a:srgbClr val="1060B8">
              <a:alpha val="80000"/>
            </a:srgbClr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118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期待合作 · 共建机器人生态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3931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C8"/>
                </a:solidFill>
              </a:rPr>
              <a:t>投资合作  ·  政府扶持  ·  高校联合实验室  ·  企业战略合作  ·  开源社区共建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  THANK YOU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E85"/>
                </a:solidFill>
              </a:rPr>
              <a:t>一站式机器人生态服务平台  |  © 2026  |  让机器人研发像画PCB一样简单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一站式机器人生态服务平台</dc:title>
  <dc:subject>PptxGenJS Presentation</dc:subject>
  <dc:creator>Robot Ecosystem Platform</dc:creator>
  <cp:lastModifiedBy>Robot Ecosystem Platform</cp:lastModifiedBy>
  <cp:revision>1</cp:revision>
  <dcterms:created xsi:type="dcterms:W3CDTF">2026-04-27T07:10:04Z</dcterms:created>
  <dcterms:modified xsi:type="dcterms:W3CDTF">2026-04-27T07:10:04Z</dcterms:modified>
</cp:coreProperties>
</file>